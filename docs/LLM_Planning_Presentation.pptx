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Solve rate</c:v>
                </c:pt>
              </c:strCache>
            </c:strRef>
          </c:tx>
          <c:spPr>
            <a:solidFill>
              <a:srgbClr val="3356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basic_move</c:v>
                </c:pt>
                <c:pt idx="1">
                  <c:v>visit-all</c:v>
                </c:pt>
                <c:pt idx="2">
                  <c:v>satellite</c:v>
                </c:pt>
                <c:pt idx="3">
                  <c:v>blocksworld</c:v>
                </c:pt>
                <c:pt idx="4">
                  <c:v>citycar</c:v>
                </c:pt>
                <c:pt idx="5">
                  <c:v>tetris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</c:v>
                </c:pt>
                <c:pt idx="1">
                  <c:v>85</c:v>
                </c:pt>
                <c:pt idx="2">
                  <c:v>47</c:v>
                </c:pt>
                <c:pt idx="3">
                  <c:v>9.5</c:v>
                </c:pt>
                <c:pt idx="4">
                  <c:v>0.5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2-4DF3-A1FA-A087EBC93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EB8C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Llama-3.1-8B</c:v>
                </c:pt>
                <c:pt idx="1">
                  <c:v>Qwen2.5-32B</c:v>
                </c:pt>
                <c:pt idx="2">
                  <c:v>Mistral-Small-24B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26.5</c:v>
                </c:pt>
                <c:pt idx="2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1-4C9F-95EE-63768B97E0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chain-of-thought</c:v>
                </c:pt>
              </c:strCache>
            </c:strRef>
          </c:tx>
          <c:spPr>
            <a:solidFill>
              <a:srgbClr val="33567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Llama-3.1-8B</c:v>
                </c:pt>
                <c:pt idx="1">
                  <c:v>Qwen2.5-32B</c:v>
                </c:pt>
                <c:pt idx="2">
                  <c:v>Mistral-Small-24B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30.9</c:v>
                </c:pt>
                <c:pt idx="1">
                  <c:v>46.8</c:v>
                </c:pt>
                <c:pt idx="2">
                  <c:v>50.5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61-4C9F-95EE-63768B97E0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Qwen2.5-32B (base)</c:v>
                </c:pt>
              </c:strCache>
            </c:strRef>
          </c:tx>
          <c:spPr>
            <a:solidFill>
              <a:srgbClr val="33567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basic_move</c:v>
                </c:pt>
                <c:pt idx="1">
                  <c:v>visit-all</c:v>
                </c:pt>
                <c:pt idx="2">
                  <c:v>satellite</c:v>
                </c:pt>
                <c:pt idx="3">
                  <c:v>blocksworld</c:v>
                </c:pt>
                <c:pt idx="4">
                  <c:v>citycar</c:v>
                </c:pt>
                <c:pt idx="5">
                  <c:v>tetris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95.1</c:v>
                </c:pt>
                <c:pt idx="3">
                  <c:v>36.700000000000003</c:v>
                </c:pt>
                <c:pt idx="4">
                  <c:v>30.5</c:v>
                </c:pt>
                <c:pt idx="5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12-4C23-B267-AFB05E28BF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QwQ-32B (post-trained)</c:v>
                </c:pt>
              </c:strCache>
            </c:strRef>
          </c:tx>
          <c:spPr>
            <a:solidFill>
              <a:srgbClr val="AEB8C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basic_move</c:v>
                </c:pt>
                <c:pt idx="1">
                  <c:v>visit-all</c:v>
                </c:pt>
                <c:pt idx="2">
                  <c:v>satellite</c:v>
                </c:pt>
                <c:pt idx="3">
                  <c:v>blocksworld</c:v>
                </c:pt>
                <c:pt idx="4">
                  <c:v>citycar</c:v>
                </c:pt>
                <c:pt idx="5">
                  <c:v>tetris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67.8</c:v>
                </c:pt>
                <c:pt idx="1">
                  <c:v>79.400000000000006</c:v>
                </c:pt>
                <c:pt idx="2">
                  <c:v>51.3</c:v>
                </c:pt>
                <c:pt idx="3">
                  <c:v>21.9</c:v>
                </c:pt>
                <c:pt idx="4">
                  <c:v>16.8</c:v>
                </c:pt>
                <c:pt idx="5">
                  <c:v>34.9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12-4C23-B267-AFB05E28BF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Partial validity</c:v>
                </c:pt>
              </c:strCache>
            </c:strRef>
          </c:tx>
          <c:spPr>
            <a:solidFill>
              <a:srgbClr val="3356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Llama-3.1-8B (bf16)</c:v>
                </c:pt>
                <c:pt idx="1">
                  <c:v>Llama-3.3-70B (4-bit)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47.2</c:v>
                </c:pt>
                <c:pt idx="1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7A-418B-806B-F44FFFCBFC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92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Industry  ·  Università di Bologna  ·  A.Y. 2025/26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Controlled Comparative Study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LLM Planning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models, six PDDL domains and two prompting conditions, evaluated on the Leonardo supercomputer (CINECA).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38404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Usama Shabbir Satti  ·  Muhammad Fahim Asim  ·  Hassan Mujtaba Ahmed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·  May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and motivation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08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weak as stand-alone planners, but useful as plan proposers inside an “LLM-Modulo” loop (Kambhampati et al., ICML 2024).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loop the model proposes a plan in PDDL, a sound external validator (VAL) accepts or rejects it and the two iterate.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within this loop, what actually matters — the model family, the model size, the domain or the prompting style?</a:t>
            </a:r>
            <a:endParaRPr lang="en-US" sz="165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answers that with a single, controlled experiment that varies one axis at a time.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40080" y="4709160"/>
            <a:ext cx="10908792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LLM-Modulo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a plan</a:t>
            </a: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6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validates it</a:t>
            </a: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6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on failure  (up to 4 iterations)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two prior student projects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Merola, Singh &amp; Dardouri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(Llama-3.3-70B) across a wide PDDL domain suite. We reuse its verbose VAL metrics extractor and a subset of its blocksworld instances.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D’Ascenzo &amp; Gentili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on citycar and tetris with a modular HPC framework. We reuse its pipeline skeleton and its PDDL files unchanged.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adds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model-agnostic prompt composer, so prompts are identical across all five models.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but fully controlled 5 × 6 × 2 matrix — each prior project varied only one axis.</a:t>
            </a:r>
            <a:endParaRPr lang="en-US" sz="170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ablations: reasoning post-training, and difficulty calibration against a classical planner.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the experimental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× 6 domains × 2 prompting conditions = 60 cells, 871 instances run in total.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instances per simple-domain cell, 20 per complex-domain cell, with up to 4 validator-guided iterations each.</a:t>
            </a:r>
            <a:endParaRPr lang="en-US" sz="165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(three families, ~10× parameter range)</a:t>
            </a:r>
            <a:endParaRPr lang="en-US" sz="1650" dirty="0"/>
          </a:p>
          <a:p>
            <a:pPr marL="406400" lvl="1" indent="-2032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Llama-3.1-8B, Llama-3.3-70B (4-bit)</a:t>
            </a:r>
            <a:endParaRPr lang="en-US" sz="1650" dirty="0"/>
          </a:p>
          <a:p>
            <a:pPr marL="406400" lvl="1" indent="-2032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Alibaba: Qwen2.5-32B, QwQ-32B (Qwen2.5 with reasoning post-training)</a:t>
            </a:r>
            <a:endParaRPr lang="en-US" sz="1650" dirty="0"/>
          </a:p>
          <a:p>
            <a:pPr marL="406400" lvl="1" indent="-2032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Mistral: Mistral-Small-24B</a:t>
            </a:r>
            <a:endParaRPr lang="en-US" sz="165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650" dirty="0"/>
          </a:p>
          <a:p>
            <a:pPr marL="406400" lvl="1" indent="-2032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basic_move, visit-all, satellite</a:t>
            </a:r>
            <a:endParaRPr lang="en-US" sz="1650" dirty="0"/>
          </a:p>
          <a:p>
            <a:pPr marL="406400" lvl="1" indent="-203200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Complex: blocksworld, citycar, tetris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 file per job, so the only thing that changes between two cells is the axis under study.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three-file module: system shell, domain descriptions, and a composer. The composer takes no model argument so prompts are byte-identical across models.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configuration: temperature 0.1, top-p 0.95, seed 42; an 8k-token budget (16k for QwQ-32B).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four attempts, stopping on the first valid plan; every attempt is logged.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difficulty</a:t>
            </a:r>
            <a:endParaRPr lang="en-US" sz="170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KCL-Planning VAL in verbose mode, parsed into one metrics schema. For four of the six domains, classical planners give a reference optimal plan length.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1: a clear simple-vs-complex gap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760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full-solve rate by domain, across all 5 models and both conditions.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589520" y="169164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domains are mostly solved (47–89%); complex domains fall to 9.5% or below.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 sits between satellite, with about 10-action optimal plans, and blocksworld, which reaches 26.</a:t>
            </a:r>
            <a:endParaRPr lang="en-US" sz="155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an effective ceiling near 8-action plans for pure-token planning in this setup.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2: chain-of-thought depends on the task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760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validity on blocksworld (%): chain-of-thought clearly helps the smaller models here.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589520" y="169164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30 (model, domain) pairs, chain-of-thought helps 9, hurts 13, and is neutral on 8.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simple domains it usually hurts — the reasoning preamble adds noise.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blocksworld it clearly helps the small and mid-size models (+13 to +20 points).</a:t>
            </a:r>
            <a:endParaRPr lang="en-US" sz="155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improves with it everywhere; it should be chosen per task class.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3: reasoning post-training hurts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4114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QwQ-32B is Qwen2.5-32B with reasoning post-training added — same base, one variable.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loses to the base model on 9 of 12 cells, a pooled drop of 16.4 percentage points.</a:t>
            </a:r>
            <a:endParaRPr lang="en-US" sz="15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largest single effect in the study, and the opposite of what we expected.</a:t>
            </a:r>
            <a:endParaRPr lang="en-US" sz="155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a verbose reasoning style works against tight, parser-friendly output. Long traces also caused timeouts on 5 of 12 cells.</a:t>
            </a:r>
            <a:endParaRPr lang="en-US" sz="15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983480" y="1554480"/>
          <a:ext cx="6537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983480" y="58064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Domain-pooled partial validity (%): the base model is ahead on five of six domains.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4: model size and difficulty calibration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partial validity, Llama 8B vs. 70B.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0" y="1554480"/>
            <a:ext cx="5577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6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beats Llama-3.1-8B by about 10 points on partial validity.</a:t>
            </a:r>
            <a:endParaRPr lang="en-US" sz="16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70B model only ran in 4-bit, so quantization confounds the comparison — treat it as a lower bound.</a:t>
            </a:r>
            <a:endParaRPr lang="en-US" sz="16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calibration</a:t>
            </a:r>
            <a:endParaRPr lang="en-US" sz="16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that are harder for a classical planner are also harder for the LLMs.</a:t>
            </a:r>
            <a:endParaRPr lang="en-US" sz="160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cross-domain difficulty ranking is real signal, not noise.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five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087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difficulty cliff between simple and complex domains.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validator feedback gives only a small recovery — most solves happen on the first attempt.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is task-class-dependent: it helps 9 (model, domain) pairs and hurts 13.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post-training, as instantiated by QwQ-32B, is a net negative for PDDL planning.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3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8B to 70B helps modestly, but 4-bit quantization confounds the read.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08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ran only in 4-bit, which confounds the scaling comparison.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QwQ-32B timed out on 5 of 12 cells despite a larger token budget; those numbers cover fewer instances.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on the first success introduces selection bias in per-iteration aggregates.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Narrow-temperature sampling gives roughly 1–3 points of run-to-run noise.</a:t>
            </a:r>
            <a:endParaRPr lang="en-US" sz="165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 are small — 10 to 20 instances per cell.</a:t>
            </a:r>
          </a:p>
        </p:txBody>
      </p:sp>
      <p:sp>
        <p:nvSpPr>
          <p:cNvPr id="4" name="Text 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findings most likely to generalise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post-training is a net negative for PDDL planning, the largest single effect in the study.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helps mid-size models on harder structured problems but is just noise on simpler ones.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picture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results rank the models and domains: simple domains are mostly solved, blocksworld partly, citycar and tetris out of reach.</a:t>
            </a:r>
            <a:endParaRPr lang="en-US" sz="1700" dirty="0"/>
          </a:p>
          <a:p>
            <a:pPr marL="203200" indent="-2032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is reproducible, one notebook regenerates every figure and table from the raw CSVs.</a:t>
            </a:r>
            <a:endParaRPr lang="en-US" sz="1700" dirty="0"/>
          </a:p>
          <a:p>
            <a:pPr marL="0" indent="0">
              <a:lnSpc>
                <a:spcPts val="23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next steps </a:t>
            </a:r>
            <a:endParaRPr lang="en-US" sz="1700" dirty="0"/>
          </a:p>
          <a:p>
            <a:pPr marL="203200" indent="-203200">
              <a:lnSpc>
                <a:spcPts val="2300"/>
              </a:lnSpc>
              <a:buSzPct val="100000"/>
              <a:buChar char="•"/>
            </a:pPr>
            <a:r>
              <a:rPr lang="en-US" sz="1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FP8 or full-precision 70B run, a prompt that handles numeric fluents, and larger sample sizes for confidence intervals.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1674AE-FC9A-E7E1-7CB4-39F659460D6A}"/>
              </a:ext>
            </a:extLst>
          </p:cNvPr>
          <p:cNvSpPr txBox="1"/>
          <p:nvPr/>
        </p:nvSpPr>
        <p:spPr>
          <a:xfrm>
            <a:off x="3952567" y="3059668"/>
            <a:ext cx="4286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309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1157</Words>
  <Application>Microsoft Office PowerPoint</Application>
  <PresentationFormat>Widescreen</PresentationFormat>
  <Paragraphs>112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Controlled Comparative Study of LLM Planning</dc:title>
  <dc:subject>PptxGenJS Presentation</dc:subject>
  <dc:creator>Satti, Fahim, Hassan, Mujtaba</dc:creator>
  <cp:lastModifiedBy>Muhammad Fahim Asim</cp:lastModifiedBy>
  <cp:revision>9</cp:revision>
  <dcterms:created xsi:type="dcterms:W3CDTF">2026-05-14T17:27:00Z</dcterms:created>
  <dcterms:modified xsi:type="dcterms:W3CDTF">2026-05-28T14:51:24Z</dcterms:modified>
</cp:coreProperties>
</file>