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notesSlides/notesSlide7.xml" ContentType="application/vnd.openxmlformats-officedocument.presentationml.notesSlide+xml"/>
  <Override PartName="/ppt/charts/chart2.xml" ContentType="application/vnd.openxmlformats-officedocument.drawingml.chart+xml"/>
  <Override PartName="/ppt/notesSlides/notesSlide8.xml" ContentType="application/vnd.openxmlformats-officedocument.presentationml.notesSlide+xml"/>
  <Override PartName="/ppt/charts/chart3.xml" ContentType="application/vnd.openxmlformats-officedocument.drawingml.chart+xml"/>
  <Override PartName="/ppt/notesSlides/notesSlide9.xml" ContentType="application/vnd.openxmlformats-officedocument.presentationml.notesSlide+xml"/>
  <Override PartName="/ppt/charts/chart4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Solve rate</c:v>
                </c:pt>
              </c:strCache>
            </c:strRef>
          </c:tx>
          <c:spPr>
            <a:solidFill>
              <a:srgbClr val="33567A"/>
            </a:solidFill>
            <a:effectLst/>
          </c:spPr>
          <c:invertIfNegative val="0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3A3A3A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basic_move</c:v>
                </c:pt>
                <c:pt idx="1">
                  <c:v>visit-all</c:v>
                </c:pt>
                <c:pt idx="2">
                  <c:v>satellite</c:v>
                </c:pt>
                <c:pt idx="3">
                  <c:v>blocksworld</c:v>
                </c:pt>
                <c:pt idx="4">
                  <c:v>citycar</c:v>
                </c:pt>
                <c:pt idx="5">
                  <c:v>tetris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89</c:v>
                </c:pt>
                <c:pt idx="1">
                  <c:v>85</c:v>
                </c:pt>
                <c:pt idx="2">
                  <c:v>47</c:v>
                </c:pt>
                <c:pt idx="3">
                  <c:v>9.5</c:v>
                </c:pt>
                <c:pt idx="4">
                  <c:v>0.5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32-4DF3-A1FA-A087EBC938E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2E2E2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A3A3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E2E2E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8A8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solidFill>
              <a:srgbClr val="AEB8C2"/>
            </a:solidFill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3A3A3A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Llama-3.1-8B</c:v>
                </c:pt>
                <c:pt idx="1">
                  <c:v>Qwen2.5-32B</c:v>
                </c:pt>
                <c:pt idx="2">
                  <c:v>Mistral-Small-24B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26.5</c:v>
                </c:pt>
                <c:pt idx="2">
                  <c:v>34.5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B61-4C9F-95EE-63768B97E0A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With chain-of-thought</c:v>
                </c:pt>
              </c:strCache>
            </c:strRef>
          </c:tx>
          <c:spPr>
            <a:solidFill>
              <a:srgbClr val="33567A"/>
            </a:solidFill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3A3A3A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Llama-3.1-8B</c:v>
                </c:pt>
                <c:pt idx="1">
                  <c:v>Qwen2.5-32B</c:v>
                </c:pt>
                <c:pt idx="2">
                  <c:v>Mistral-Small-24B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30.9</c:v>
                </c:pt>
                <c:pt idx="1">
                  <c:v>46.8</c:v>
                </c:pt>
                <c:pt idx="2">
                  <c:v>50.5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B61-4C9F-95EE-63768B97E0A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35"/>
        <c:overlap val="-1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2E2E2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A3A3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9525" cap="flat">
              <a:solidFill>
                <a:srgbClr val="E2E2E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8A8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A3A3A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Qwen2.5-32B (base)</c:v>
                </c:pt>
              </c:strCache>
            </c:strRef>
          </c:tx>
          <c:spPr>
            <a:solidFill>
              <a:srgbClr val="33567A"/>
            </a:solidFill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3A3A3A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basic_move</c:v>
                </c:pt>
                <c:pt idx="1">
                  <c:v>visit-all</c:v>
                </c:pt>
                <c:pt idx="2">
                  <c:v>satellite</c:v>
                </c:pt>
                <c:pt idx="3">
                  <c:v>blocksworld</c:v>
                </c:pt>
                <c:pt idx="4">
                  <c:v>citycar</c:v>
                </c:pt>
                <c:pt idx="5">
                  <c:v>tetris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100</c:v>
                </c:pt>
                <c:pt idx="2">
                  <c:v>95.1</c:v>
                </c:pt>
                <c:pt idx="3">
                  <c:v>36.700000000000003</c:v>
                </c:pt>
                <c:pt idx="4">
                  <c:v>30.5</c:v>
                </c:pt>
                <c:pt idx="5">
                  <c:v>8.4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D12-4C23-B267-AFB05E28BFB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QwQ-32B (post-trained)</c:v>
                </c:pt>
              </c:strCache>
            </c:strRef>
          </c:tx>
          <c:spPr>
            <a:solidFill>
              <a:srgbClr val="AEB8C2"/>
            </a:solidFill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3A3A3A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basic_move</c:v>
                </c:pt>
                <c:pt idx="1">
                  <c:v>visit-all</c:v>
                </c:pt>
                <c:pt idx="2">
                  <c:v>satellite</c:v>
                </c:pt>
                <c:pt idx="3">
                  <c:v>blocksworld</c:v>
                </c:pt>
                <c:pt idx="4">
                  <c:v>citycar</c:v>
                </c:pt>
                <c:pt idx="5">
                  <c:v>tetris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67.8</c:v>
                </c:pt>
                <c:pt idx="1">
                  <c:v>79.400000000000006</c:v>
                </c:pt>
                <c:pt idx="2">
                  <c:v>51.3</c:v>
                </c:pt>
                <c:pt idx="3">
                  <c:v>21.9</c:v>
                </c:pt>
                <c:pt idx="4">
                  <c:v>16.8</c:v>
                </c:pt>
                <c:pt idx="5">
                  <c:v>34.9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D12-4C23-B267-AFB05E28BFB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30"/>
        <c:overlap val="-8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2E2E2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A3A3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E2E2E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8A8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A3A3A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Partial validity</c:v>
                </c:pt>
              </c:strCache>
            </c:strRef>
          </c:tx>
          <c:spPr>
            <a:solidFill>
              <a:srgbClr val="33567A"/>
            </a:solidFill>
            <a:effectLst/>
          </c:spPr>
          <c:invertIfNegative val="0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3A3A3A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Llama-3.1-8B (bf16)</c:v>
                </c:pt>
                <c:pt idx="1">
                  <c:v>Llama-3.3-70B (4-bit)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47.2</c:v>
                </c:pt>
                <c:pt idx="1">
                  <c:v>57.2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97A-418B-806B-F44FFFCBFC9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7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2E2E2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A3A3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9525" cap="flat">
              <a:solidFill>
                <a:srgbClr val="E2E2E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8A8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35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249258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3716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Industry  ·  Università di Bologna  ·  A.Y. 2025/26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1828800"/>
            <a:ext cx="1090879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1F27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Controlled Comparative Study</a:t>
            </a:r>
            <a:endParaRPr lang="en-US" sz="3800" dirty="0"/>
          </a:p>
          <a:p>
            <a:pPr marL="0" indent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1F27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 LLM Planning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347472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sz="17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models, six PDDL domains and two prompting conditions, evaluated on the Leonardo supercomputer (CINECA).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4434840"/>
            <a:ext cx="3840480" cy="0"/>
          </a:xfrm>
          <a:prstGeom prst="line">
            <a:avLst/>
          </a:prstGeom>
          <a:noFill/>
          <a:ln w="1270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46177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Usama Shabbir Satti  ·  Muhammad Fahim Asim  ·  Hassan Mujtaba Ahmed 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498348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report  ·  May 2026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F27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Background and motivation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1463040"/>
            <a:ext cx="1090879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ts val="2300"/>
              </a:lnSpc>
              <a:spcAft>
                <a:spcPts val="1100"/>
              </a:spcAft>
              <a:buSzPct val="100000"/>
              <a:buChar char="•"/>
            </a:pPr>
            <a:r>
              <a:rPr lang="en-US" sz="16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models are weak as stand-alone planners, but useful as plan proposers inside an “LLM-Modulo” loop (Kambhampati et al., ICML 2024).</a:t>
            </a:r>
            <a:endParaRPr lang="en-US" sz="1650" dirty="0"/>
          </a:p>
          <a:p>
            <a:pPr marL="203200" indent="-203200">
              <a:lnSpc>
                <a:spcPts val="2300"/>
              </a:lnSpc>
              <a:spcAft>
                <a:spcPts val="1100"/>
              </a:spcAft>
              <a:buSzPct val="100000"/>
              <a:buChar char="•"/>
            </a:pPr>
            <a:r>
              <a:rPr lang="en-US" sz="16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this loop the model proposes a plan in PDDL, a sound external validator (VAL) accepts or rejects it and the two iterate.</a:t>
            </a:r>
            <a:endParaRPr lang="en-US" sz="1650" dirty="0"/>
          </a:p>
          <a:p>
            <a:pPr marL="203200" indent="-203200">
              <a:lnSpc>
                <a:spcPts val="2300"/>
              </a:lnSpc>
              <a:spcAft>
                <a:spcPts val="1100"/>
              </a:spcAft>
              <a:buSzPct val="100000"/>
              <a:buChar char="•"/>
            </a:pPr>
            <a:r>
              <a:rPr lang="en-US" sz="16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question: within this loop, what actually matters — the model family, the model size, the domain or the prompting style?</a:t>
            </a:r>
            <a:endParaRPr lang="en-US" sz="1650" dirty="0"/>
          </a:p>
          <a:p>
            <a:pPr marL="203200" indent="-203200">
              <a:lnSpc>
                <a:spcPts val="2300"/>
              </a:lnSpc>
              <a:buSzPct val="100000"/>
              <a:buChar char="•"/>
            </a:pPr>
            <a:r>
              <a:rPr lang="en-US" sz="16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 answers that with a single, controlled experiment that varies one axis at a time.</a:t>
            </a:r>
            <a:endParaRPr lang="en-US" sz="1650" dirty="0"/>
          </a:p>
        </p:txBody>
      </p:sp>
      <p:sp>
        <p:nvSpPr>
          <p:cNvPr id="4" name="Shape 2"/>
          <p:cNvSpPr/>
          <p:nvPr/>
        </p:nvSpPr>
        <p:spPr>
          <a:xfrm>
            <a:off x="640080" y="4709160"/>
            <a:ext cx="10908792" cy="0"/>
          </a:xfrm>
          <a:prstGeom prst="line">
            <a:avLst/>
          </a:prstGeom>
          <a:noFill/>
          <a:ln w="1270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484632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LLM-Modulo loop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516636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35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proposes a plan</a:t>
            </a:r>
            <a:r>
              <a:rPr lang="en-US" sz="16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→      </a:t>
            </a:r>
            <a:r>
              <a:rPr lang="en-US" sz="1600" b="1" dirty="0">
                <a:solidFill>
                  <a:srgbClr val="335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 validates it</a:t>
            </a:r>
            <a:r>
              <a:rPr lang="en-US" sz="16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→      </a:t>
            </a:r>
            <a:r>
              <a:rPr lang="en-US" sz="1600" b="1" dirty="0">
                <a:solidFill>
                  <a:srgbClr val="335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re-prompt on failure  (up to 4 iterations)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09167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F27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 on two prior student projects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908792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300"/>
              </a:lnSpc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A — Merola, Singh &amp; Dardouri</a:t>
            </a:r>
            <a:endParaRPr lang="en-US" sz="1700" dirty="0"/>
          </a:p>
          <a:p>
            <a:pPr marL="203200" indent="-203200">
              <a:lnSpc>
                <a:spcPts val="2300"/>
              </a:lnSpc>
              <a:spcAft>
                <a:spcPts val="1100"/>
              </a:spcAft>
              <a:buSzPct val="100000"/>
              <a:buChar char="•"/>
            </a:pPr>
            <a:r>
              <a:rPr lang="en-US" sz="16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model (Llama-3.3-70B) across a wide PDDL domain suite. We reuse its verbose VAL metrics extractor and a subset of its blocksworld instances.</a:t>
            </a:r>
            <a:endParaRPr lang="en-US" sz="1700" dirty="0"/>
          </a:p>
          <a:p>
            <a:pPr marL="0" indent="0">
              <a:lnSpc>
                <a:spcPts val="2300"/>
              </a:lnSpc>
              <a:spcBef>
                <a:spcPts val="1200"/>
              </a:spcBef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B — D’Ascenzo &amp; Gentili</a:t>
            </a:r>
            <a:endParaRPr lang="en-US" sz="1700" dirty="0"/>
          </a:p>
          <a:p>
            <a:pPr marL="203200" indent="-203200">
              <a:lnSpc>
                <a:spcPts val="2300"/>
              </a:lnSpc>
              <a:spcAft>
                <a:spcPts val="1100"/>
              </a:spcAft>
              <a:buSzPct val="100000"/>
              <a:buChar char="•"/>
            </a:pPr>
            <a:r>
              <a:rPr lang="en-US" sz="16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models on citycar and tetris with a modular HPC framework. We reuse its pipeline skeleton and its PDDL files unchanged.</a:t>
            </a:r>
            <a:endParaRPr lang="en-US" sz="1700" dirty="0"/>
          </a:p>
          <a:p>
            <a:pPr marL="0" indent="0">
              <a:lnSpc>
                <a:spcPts val="2300"/>
              </a:lnSpc>
              <a:spcBef>
                <a:spcPts val="1200"/>
              </a:spcBef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project adds</a:t>
            </a:r>
            <a:endParaRPr lang="en-US" sz="1700" dirty="0"/>
          </a:p>
          <a:p>
            <a:pPr marL="203200" indent="-203200">
              <a:lnSpc>
                <a:spcPts val="2300"/>
              </a:lnSpc>
              <a:spcAft>
                <a:spcPts val="1100"/>
              </a:spcAft>
              <a:buSzPct val="100000"/>
              <a:buChar char="•"/>
            </a:pPr>
            <a:r>
              <a:rPr lang="en-US" sz="16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model-agnostic prompt composer, so prompts are identical across all five models.</a:t>
            </a:r>
            <a:endParaRPr lang="en-US" sz="1700" dirty="0"/>
          </a:p>
          <a:p>
            <a:pPr marL="203200" indent="-203200">
              <a:lnSpc>
                <a:spcPts val="2300"/>
              </a:lnSpc>
              <a:spcAft>
                <a:spcPts val="1100"/>
              </a:spcAft>
              <a:buSzPct val="100000"/>
              <a:buChar char="•"/>
            </a:pPr>
            <a:r>
              <a:rPr lang="en-US" sz="16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wider but fully controlled 5 × 6 × 2 matrix — each prior project varied only one axis.</a:t>
            </a:r>
            <a:endParaRPr lang="en-US" sz="1700" dirty="0"/>
          </a:p>
          <a:p>
            <a:pPr marL="203200" indent="-203200">
              <a:lnSpc>
                <a:spcPts val="2300"/>
              </a:lnSpc>
              <a:buSzPct val="100000"/>
              <a:buChar char="•"/>
            </a:pPr>
            <a:r>
              <a:rPr lang="en-US" sz="16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new ablations: reasoning post-training, and difficulty calibration against a classical planner.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09167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F27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Methodology: the experimental matrix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908792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ts val="2300"/>
              </a:lnSpc>
              <a:spcAft>
                <a:spcPts val="1100"/>
              </a:spcAft>
              <a:buSzPct val="100000"/>
              <a:buChar char="•"/>
            </a:pPr>
            <a:r>
              <a:rPr lang="en-US" sz="16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models × 6 domains × 2 prompting conditions = 60 cells, 871 instances run in total.</a:t>
            </a:r>
            <a:endParaRPr lang="en-US" sz="1650" dirty="0"/>
          </a:p>
          <a:p>
            <a:pPr marL="203200" indent="-203200">
              <a:lnSpc>
                <a:spcPts val="2300"/>
              </a:lnSpc>
              <a:spcAft>
                <a:spcPts val="1100"/>
              </a:spcAft>
              <a:buSzPct val="100000"/>
              <a:buChar char="•"/>
            </a:pPr>
            <a:r>
              <a:rPr lang="en-US" sz="16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instances per simple-domain cell, 20 per complex-domain cell, with up to 4 validator-guided iterations each.</a:t>
            </a:r>
            <a:endParaRPr lang="en-US" sz="1650" dirty="0"/>
          </a:p>
          <a:p>
            <a:pPr marL="0" indent="0">
              <a:lnSpc>
                <a:spcPts val="2300"/>
              </a:lnSpc>
              <a:spcBef>
                <a:spcPts val="1200"/>
              </a:spcBef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(three families, ~10× parameter range)</a:t>
            </a:r>
            <a:endParaRPr lang="en-US" sz="1650" dirty="0"/>
          </a:p>
          <a:p>
            <a:pPr marL="406400" lvl="1" indent="-203200">
              <a:lnSpc>
                <a:spcPts val="2300"/>
              </a:lnSpc>
              <a:spcAft>
                <a:spcPts val="900"/>
              </a:spcAft>
              <a:buSzPct val="100000"/>
              <a:buChar char="•"/>
            </a:pPr>
            <a:r>
              <a:rPr lang="en-US" sz="16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Meta: Llama-3.1-8B, Llama-3.3-70B (4-bit)</a:t>
            </a:r>
            <a:endParaRPr lang="en-US" sz="1650" dirty="0"/>
          </a:p>
          <a:p>
            <a:pPr marL="406400" lvl="1" indent="-203200">
              <a:lnSpc>
                <a:spcPts val="2300"/>
              </a:lnSpc>
              <a:spcAft>
                <a:spcPts val="900"/>
              </a:spcAft>
              <a:buSzPct val="100000"/>
              <a:buChar char="•"/>
            </a:pPr>
            <a:r>
              <a:rPr lang="en-US" sz="16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Alibaba: Qwen2.5-32B, QwQ-32B (Qwen2.5 with reasoning post-training)</a:t>
            </a:r>
            <a:endParaRPr lang="en-US" sz="1650" dirty="0"/>
          </a:p>
          <a:p>
            <a:pPr marL="406400" lvl="1" indent="-203200">
              <a:lnSpc>
                <a:spcPts val="2300"/>
              </a:lnSpc>
              <a:spcAft>
                <a:spcPts val="900"/>
              </a:spcAft>
              <a:buSzPct val="100000"/>
              <a:buChar char="•"/>
            </a:pPr>
            <a:r>
              <a:rPr lang="en-US" sz="16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Mistral: Mistral-Small-24B</a:t>
            </a:r>
            <a:endParaRPr lang="en-US" sz="1650" dirty="0"/>
          </a:p>
          <a:p>
            <a:pPr marL="0" indent="0">
              <a:lnSpc>
                <a:spcPts val="2300"/>
              </a:lnSpc>
              <a:spcBef>
                <a:spcPts val="1200"/>
              </a:spcBef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Domains</a:t>
            </a:r>
            <a:endParaRPr lang="en-US" sz="1650" dirty="0"/>
          </a:p>
          <a:p>
            <a:pPr marL="406400" lvl="1" indent="-203200">
              <a:lnSpc>
                <a:spcPts val="2300"/>
              </a:lnSpc>
              <a:spcAft>
                <a:spcPts val="900"/>
              </a:spcAft>
              <a:buSzPct val="100000"/>
              <a:buChar char="•"/>
            </a:pPr>
            <a:r>
              <a:rPr lang="en-US" sz="16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Simple: basic_move, visit-all, satellite</a:t>
            </a:r>
            <a:endParaRPr lang="en-US" sz="1650" dirty="0"/>
          </a:p>
          <a:p>
            <a:pPr marL="406400" lvl="1" indent="-203200">
              <a:lnSpc>
                <a:spcPts val="2300"/>
              </a:lnSpc>
              <a:buSzPct val="100000"/>
              <a:buChar char="•"/>
            </a:pPr>
            <a:r>
              <a:rPr lang="en-US" sz="16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Complex: blocksworld, citycar, tetris</a:t>
            </a:r>
            <a:endParaRPr lang="en-US" sz="1650" dirty="0"/>
          </a:p>
        </p:txBody>
      </p:sp>
      <p:sp>
        <p:nvSpPr>
          <p:cNvPr id="4" name="Text 2"/>
          <p:cNvSpPr/>
          <p:nvPr/>
        </p:nvSpPr>
        <p:spPr>
          <a:xfrm>
            <a:off x="640080" y="59436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configuration file per job, so the only thing that changes between two cells is the axis under study.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109167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F27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Experimental setup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908792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300"/>
              </a:lnSpc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</a:t>
            </a:r>
            <a:endParaRPr lang="en-US" sz="1700" dirty="0"/>
          </a:p>
          <a:p>
            <a:pPr marL="203200" indent="-203200">
              <a:lnSpc>
                <a:spcPts val="2300"/>
              </a:lnSpc>
              <a:spcAft>
                <a:spcPts val="1100"/>
              </a:spcAft>
              <a:buSzPct val="100000"/>
              <a:buChar char="•"/>
            </a:pPr>
            <a:r>
              <a:rPr lang="en-US" sz="16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three-file module: system shell, domain descriptions, and a composer. The composer takes no model argument so prompts are byte-identical across models.</a:t>
            </a:r>
            <a:endParaRPr lang="en-US" sz="1700" dirty="0"/>
          </a:p>
          <a:p>
            <a:pPr marL="0" indent="0">
              <a:lnSpc>
                <a:spcPts val="2300"/>
              </a:lnSpc>
              <a:spcBef>
                <a:spcPts val="1200"/>
              </a:spcBef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</a:t>
            </a:r>
            <a:endParaRPr lang="en-US" sz="1700" dirty="0"/>
          </a:p>
          <a:p>
            <a:pPr marL="203200" indent="-203200">
              <a:lnSpc>
                <a:spcPts val="2300"/>
              </a:lnSpc>
              <a:spcAft>
                <a:spcPts val="1100"/>
              </a:spcAft>
              <a:buSzPct val="100000"/>
              <a:buChar char="•"/>
            </a:pPr>
            <a:r>
              <a:rPr lang="en-US" sz="16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configuration: temperature 0.1, top-p 0.95, seed 42; an 8k-token budget (16k for QwQ-32B).</a:t>
            </a:r>
            <a:endParaRPr lang="en-US" sz="1700" dirty="0"/>
          </a:p>
          <a:p>
            <a:pPr marL="0" indent="0">
              <a:lnSpc>
                <a:spcPts val="2300"/>
              </a:lnSpc>
              <a:spcBef>
                <a:spcPts val="1200"/>
              </a:spcBef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</a:t>
            </a:r>
            <a:endParaRPr lang="en-US" sz="1700" dirty="0"/>
          </a:p>
          <a:p>
            <a:pPr marL="203200" indent="-203200">
              <a:lnSpc>
                <a:spcPts val="2300"/>
              </a:lnSpc>
              <a:spcAft>
                <a:spcPts val="1100"/>
              </a:spcAft>
              <a:buSzPct val="100000"/>
              <a:buChar char="•"/>
            </a:pPr>
            <a:r>
              <a:rPr lang="en-US" sz="16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four attempts, stopping on the first valid plan; every attempt is logged.</a:t>
            </a:r>
            <a:endParaRPr lang="en-US" sz="1700" dirty="0"/>
          </a:p>
          <a:p>
            <a:pPr marL="0" indent="0">
              <a:lnSpc>
                <a:spcPts val="2300"/>
              </a:lnSpc>
              <a:spcBef>
                <a:spcPts val="1200"/>
              </a:spcBef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and difficulty</a:t>
            </a:r>
            <a:endParaRPr lang="en-US" sz="1700" dirty="0"/>
          </a:p>
          <a:p>
            <a:pPr marL="203200" indent="-203200">
              <a:lnSpc>
                <a:spcPts val="2300"/>
              </a:lnSpc>
              <a:buSzPct val="100000"/>
              <a:buChar char="•"/>
            </a:pPr>
            <a:r>
              <a:rPr lang="en-US" sz="16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KCL-Planning VAL in verbose mode, parsed into one metrics schema. For four of the six domains, classical planners give a reference optimal plan length.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09167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F27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 1: a clear simple-vs-complex gap</a:t>
            </a:r>
            <a:endParaRPr lang="en-US" sz="2600" dirty="0"/>
          </a:p>
        </p:txBody>
      </p:sp>
      <p:graphicFrame>
        <p:nvGraphicFramePr>
          <p:cNvPr id="3" name="Chart 0"/>
          <p:cNvGraphicFramePr/>
          <p:nvPr/>
        </p:nvGraphicFramePr>
        <p:xfrm>
          <a:off x="640080" y="1554480"/>
          <a:ext cx="658368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Text 1"/>
          <p:cNvSpPr/>
          <p:nvPr/>
        </p:nvSpPr>
        <p:spPr>
          <a:xfrm>
            <a:off x="640080" y="576072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Pooled full-solve rate by domain, across all 5 models and both conditions.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7589520" y="1691640"/>
            <a:ext cx="39319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ts val="2300"/>
              </a:lnSpc>
              <a:spcAft>
                <a:spcPts val="1100"/>
              </a:spcAft>
              <a:buSzPct val="100000"/>
              <a:buChar char="•"/>
            </a:pPr>
            <a:r>
              <a:rPr lang="en-US" sz="15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domains are mostly solved (47–89%); complex domains fall to 9.5% or below.</a:t>
            </a:r>
            <a:endParaRPr lang="en-US" sz="1550" dirty="0"/>
          </a:p>
          <a:p>
            <a:pPr marL="203200" indent="-203200">
              <a:lnSpc>
                <a:spcPts val="2300"/>
              </a:lnSpc>
              <a:spcAft>
                <a:spcPts val="1100"/>
              </a:spcAft>
              <a:buSzPct val="100000"/>
              <a:buChar char="•"/>
            </a:pPr>
            <a:r>
              <a:rPr lang="en-US" sz="15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break sits between satellite, with about 10-action optimal plans, and blocksworld, which reaches 26.</a:t>
            </a:r>
            <a:endParaRPr lang="en-US" sz="1550" dirty="0"/>
          </a:p>
          <a:p>
            <a:pPr marL="203200" indent="-203200">
              <a:lnSpc>
                <a:spcPts val="2300"/>
              </a:lnSpc>
              <a:buSzPct val="100000"/>
              <a:buChar char="•"/>
            </a:pPr>
            <a:r>
              <a:rPr lang="en-US" sz="15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points to an effective ceiling near 8-action plans for pure-token planning in this setup.</a:t>
            </a:r>
            <a:endParaRPr lang="en-US" sz="1550" dirty="0"/>
          </a:p>
        </p:txBody>
      </p:sp>
      <p:sp>
        <p:nvSpPr>
          <p:cNvPr id="6" name="Text 3"/>
          <p:cNvSpPr/>
          <p:nvPr/>
        </p:nvSpPr>
        <p:spPr>
          <a:xfrm>
            <a:off x="1109167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F27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 2: chain-of-thought depends on the task</a:t>
            </a:r>
            <a:endParaRPr lang="en-US" sz="2600" dirty="0"/>
          </a:p>
        </p:txBody>
      </p:sp>
      <p:graphicFrame>
        <p:nvGraphicFramePr>
          <p:cNvPr id="3" name="Chart 0"/>
          <p:cNvGraphicFramePr/>
          <p:nvPr/>
        </p:nvGraphicFramePr>
        <p:xfrm>
          <a:off x="640080" y="1554480"/>
          <a:ext cx="658368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Text 1"/>
          <p:cNvSpPr/>
          <p:nvPr/>
        </p:nvSpPr>
        <p:spPr>
          <a:xfrm>
            <a:off x="640080" y="576072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validity on blocksworld (%): chain-of-thought clearly helps the smaller models here.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7589520" y="1691640"/>
            <a:ext cx="39319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ts val="2300"/>
              </a:lnSpc>
              <a:spcAft>
                <a:spcPts val="1100"/>
              </a:spcAft>
              <a:buSzPct val="100000"/>
              <a:buChar char="•"/>
            </a:pPr>
            <a:r>
              <a:rPr lang="en-US" sz="15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30 (model, domain) pairs, chain-of-thought helps 9, hurts 13, and is neutral on 8.</a:t>
            </a:r>
            <a:endParaRPr lang="en-US" sz="1550" dirty="0"/>
          </a:p>
          <a:p>
            <a:pPr marL="203200" indent="-203200">
              <a:lnSpc>
                <a:spcPts val="2300"/>
              </a:lnSpc>
              <a:spcAft>
                <a:spcPts val="1100"/>
              </a:spcAft>
              <a:buSzPct val="100000"/>
              <a:buChar char="•"/>
            </a:pPr>
            <a:r>
              <a:rPr lang="en-US" sz="15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simple domains it usually hurts — the reasoning preamble adds noise.</a:t>
            </a:r>
            <a:endParaRPr lang="en-US" sz="1550" dirty="0"/>
          </a:p>
          <a:p>
            <a:pPr marL="203200" indent="-203200">
              <a:lnSpc>
                <a:spcPts val="2300"/>
              </a:lnSpc>
              <a:spcAft>
                <a:spcPts val="1100"/>
              </a:spcAft>
              <a:buSzPct val="100000"/>
              <a:buChar char="•"/>
            </a:pPr>
            <a:r>
              <a:rPr lang="en-US" sz="15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blocksworld it clearly helps the small and mid-size models (+13 to +20 points).</a:t>
            </a:r>
            <a:endParaRPr lang="en-US" sz="1550" dirty="0"/>
          </a:p>
          <a:p>
            <a:pPr marL="203200" indent="-203200">
              <a:lnSpc>
                <a:spcPts val="2300"/>
              </a:lnSpc>
              <a:buSzPct val="100000"/>
              <a:buChar char="•"/>
            </a:pPr>
            <a:r>
              <a:rPr lang="en-US" sz="15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model improves with it everywhere; it should be chosen per task class.</a:t>
            </a:r>
            <a:endParaRPr lang="en-US" sz="1550" dirty="0"/>
          </a:p>
        </p:txBody>
      </p:sp>
      <p:sp>
        <p:nvSpPr>
          <p:cNvPr id="6" name="Text 3"/>
          <p:cNvSpPr/>
          <p:nvPr/>
        </p:nvSpPr>
        <p:spPr>
          <a:xfrm>
            <a:off x="1109167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F27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 3: reasoning post-training hurts planning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411480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ts val="2300"/>
              </a:lnSpc>
              <a:spcAft>
                <a:spcPts val="1100"/>
              </a:spcAft>
              <a:buSzPct val="100000"/>
              <a:buChar char="•"/>
            </a:pPr>
            <a:r>
              <a:rPr lang="en-US" sz="15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QwQ-32B is Qwen2.5-32B with reasoning post-training added — same base, one variable.</a:t>
            </a:r>
            <a:endParaRPr lang="en-US" sz="1550" dirty="0"/>
          </a:p>
          <a:p>
            <a:pPr marL="203200" indent="-203200">
              <a:lnSpc>
                <a:spcPts val="2300"/>
              </a:lnSpc>
              <a:spcAft>
                <a:spcPts val="1100"/>
              </a:spcAft>
              <a:buSzPct val="100000"/>
              <a:buChar char="•"/>
            </a:pPr>
            <a:r>
              <a:rPr lang="en-US" sz="15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loses to the base model on 9 of 12 cells, a pooled drop of 16.4 percentage points.</a:t>
            </a:r>
            <a:endParaRPr lang="en-US" sz="1550" dirty="0"/>
          </a:p>
          <a:p>
            <a:pPr marL="203200" indent="-203200">
              <a:lnSpc>
                <a:spcPts val="2300"/>
              </a:lnSpc>
              <a:spcAft>
                <a:spcPts val="1100"/>
              </a:spcAft>
              <a:buSzPct val="100000"/>
              <a:buChar char="•"/>
            </a:pPr>
            <a:r>
              <a:rPr lang="en-US" sz="15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largest single effect in the study, and the opposite of what we expected.</a:t>
            </a:r>
            <a:endParaRPr lang="en-US" sz="1550" dirty="0"/>
          </a:p>
          <a:p>
            <a:pPr marL="203200" indent="-203200">
              <a:lnSpc>
                <a:spcPts val="2300"/>
              </a:lnSpc>
              <a:buSzPct val="100000"/>
              <a:buChar char="•"/>
            </a:pPr>
            <a:r>
              <a:rPr lang="en-US" sz="15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Likely cause: a verbose reasoning style works against tight, parser-friendly output. Long traces also caused timeouts on 5 of 12 cells.</a:t>
            </a:r>
            <a:endParaRPr lang="en-US" sz="155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4983480" y="1554480"/>
          <a:ext cx="6537960" cy="4160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4983480" y="5806440"/>
            <a:ext cx="6537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Domain-pooled partial validity (%): the base model is ahead on five of six domains.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109167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F27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 4: model size and difficulty calibration</a:t>
            </a:r>
            <a:endParaRPr lang="en-US" sz="2600" dirty="0"/>
          </a:p>
        </p:txBody>
      </p:sp>
      <p:graphicFrame>
        <p:nvGraphicFramePr>
          <p:cNvPr id="3" name="Chart 0"/>
          <p:cNvGraphicFramePr/>
          <p:nvPr/>
        </p:nvGraphicFramePr>
        <p:xfrm>
          <a:off x="640080" y="1691640"/>
          <a:ext cx="475488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Text 1"/>
          <p:cNvSpPr/>
          <p:nvPr/>
        </p:nvSpPr>
        <p:spPr>
          <a:xfrm>
            <a:off x="640080" y="53492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Pooled partial validity, Llama 8B vs. 70B.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943600" y="1554480"/>
            <a:ext cx="557784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300"/>
              </a:lnSpc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size</a:t>
            </a:r>
            <a:endParaRPr lang="en-US" sz="1600" dirty="0"/>
          </a:p>
          <a:p>
            <a:pPr marL="203200" indent="-203200">
              <a:lnSpc>
                <a:spcPts val="2300"/>
              </a:lnSpc>
              <a:spcAft>
                <a:spcPts val="1100"/>
              </a:spcAft>
              <a:buSzPct val="100000"/>
              <a:buChar char="•"/>
            </a:pPr>
            <a:r>
              <a:rPr lang="en-US" sz="15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Llama-3.3-70B beats Llama-3.1-8B by about 10 points on partial validity.</a:t>
            </a:r>
            <a:endParaRPr lang="en-US" sz="1600" dirty="0"/>
          </a:p>
          <a:p>
            <a:pPr marL="203200" indent="-203200">
              <a:lnSpc>
                <a:spcPts val="2300"/>
              </a:lnSpc>
              <a:spcAft>
                <a:spcPts val="1100"/>
              </a:spcAft>
              <a:buSzPct val="100000"/>
              <a:buChar char="•"/>
            </a:pPr>
            <a:r>
              <a:rPr lang="en-US" sz="15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the 70B model only ran in 4-bit, so quantization confounds the comparison — treat it as a lower bound.</a:t>
            </a:r>
            <a:endParaRPr lang="en-US" sz="1600" dirty="0"/>
          </a:p>
          <a:p>
            <a:pPr marL="0" indent="0">
              <a:lnSpc>
                <a:spcPts val="2300"/>
              </a:lnSpc>
              <a:spcBef>
                <a:spcPts val="1200"/>
              </a:spcBef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Difficulty calibration</a:t>
            </a:r>
            <a:endParaRPr lang="en-US" sz="1600" dirty="0"/>
          </a:p>
          <a:p>
            <a:pPr marL="203200" indent="-203200">
              <a:lnSpc>
                <a:spcPts val="2300"/>
              </a:lnSpc>
              <a:spcAft>
                <a:spcPts val="1100"/>
              </a:spcAft>
              <a:buSzPct val="100000"/>
              <a:buChar char="•"/>
            </a:pPr>
            <a:r>
              <a:rPr lang="en-US" sz="15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Problems that are harder for a classical planner are also harder for the LLMs (slope −4.0 points per step, r = −0.83).</a:t>
            </a:r>
            <a:endParaRPr lang="en-US" sz="1600" dirty="0"/>
          </a:p>
          <a:p>
            <a:pPr marL="203200" indent="-203200">
              <a:lnSpc>
                <a:spcPts val="2300"/>
              </a:lnSpc>
              <a:buSzPct val="100000"/>
              <a:buChar char="•"/>
            </a:pPr>
            <a:r>
              <a:rPr lang="en-US" sz="15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confirms the cross-domain difficulty ranking is real signal, not noise.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1109167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F27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Discussion: five findings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10908792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335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</a:t>
            </a:r>
            <a:r>
              <a:rPr lang="en-US" sz="17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a clear difficulty cliff between simple and complex domains.</a:t>
            </a:r>
            <a:endParaRPr lang="en-US" sz="17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335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</a:t>
            </a:r>
            <a:r>
              <a:rPr lang="en-US" sz="17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Iterative validator feedback gives only a small recovery — most solves happen on the first attempt.</a:t>
            </a:r>
            <a:endParaRPr lang="en-US" sz="17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335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</a:t>
            </a:r>
            <a:r>
              <a:rPr lang="en-US" sz="17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Chain-of-thought is task-class-dependent: it helps 9 (model, domain) pairs and hurts 13.</a:t>
            </a:r>
            <a:endParaRPr lang="en-US" sz="17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335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</a:t>
            </a:r>
            <a:r>
              <a:rPr lang="en-US" sz="17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 post-training, as instantiated by QwQ-32B, is a net negative for PDDL planning.</a:t>
            </a:r>
            <a:endParaRPr lang="en-US" sz="17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3356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</a:t>
            </a:r>
            <a:r>
              <a:rPr lang="en-US" sz="170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 from 8B to 70B helps modestly, but 4-bit quantization confounds the read.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09167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F27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Limitations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10908792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ts val="2300"/>
              </a:lnSpc>
              <a:spcAft>
                <a:spcPts val="1100"/>
              </a:spcAft>
              <a:buSzPct val="100000"/>
              <a:buChar char="•"/>
            </a:pPr>
            <a:r>
              <a:rPr lang="en-US" sz="16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Llama-3.3-70B ran only in 4-bit, which confounds the scaling comparison.</a:t>
            </a:r>
            <a:endParaRPr lang="en-US" sz="1650" dirty="0"/>
          </a:p>
          <a:p>
            <a:pPr marL="203200" indent="-203200">
              <a:lnSpc>
                <a:spcPts val="2300"/>
              </a:lnSpc>
              <a:spcAft>
                <a:spcPts val="1100"/>
              </a:spcAft>
              <a:buSzPct val="100000"/>
              <a:buChar char="•"/>
            </a:pPr>
            <a:r>
              <a:rPr lang="en-US" sz="16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QwQ-32B timed out on 5 of 12 cells despite a larger token budget; those numbers cover fewer instances.</a:t>
            </a:r>
            <a:endParaRPr lang="en-US" sz="1650" dirty="0"/>
          </a:p>
          <a:p>
            <a:pPr marL="203200" indent="-203200">
              <a:lnSpc>
                <a:spcPts val="2300"/>
              </a:lnSpc>
              <a:spcAft>
                <a:spcPts val="1100"/>
              </a:spcAft>
              <a:buSzPct val="100000"/>
              <a:buChar char="•"/>
            </a:pPr>
            <a:r>
              <a:rPr lang="en-US" sz="16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Stopping on the first success introduces selection bias in per-iteration aggregates.</a:t>
            </a:r>
            <a:endParaRPr lang="en-US" sz="1650" dirty="0"/>
          </a:p>
          <a:p>
            <a:pPr marL="203200" indent="-203200">
              <a:lnSpc>
                <a:spcPts val="2300"/>
              </a:lnSpc>
              <a:spcAft>
                <a:spcPts val="1100"/>
              </a:spcAft>
              <a:buSzPct val="100000"/>
              <a:buChar char="•"/>
            </a:pPr>
            <a:r>
              <a:rPr lang="en-US" sz="16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Narrow-temperature sampling gives roughly 1–3 points of run-to-run noise.</a:t>
            </a:r>
            <a:endParaRPr lang="en-US" sz="1650" dirty="0"/>
          </a:p>
          <a:p>
            <a:pPr marL="203200" indent="-203200">
              <a:lnSpc>
                <a:spcPts val="2300"/>
              </a:lnSpc>
              <a:spcAft>
                <a:spcPts val="1100"/>
              </a:spcAft>
              <a:buSzPct val="100000"/>
              <a:buChar char="•"/>
            </a:pPr>
            <a:r>
              <a:rPr lang="en-US" sz="16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sizes are small — 10 to 20 instances per cell.</a:t>
            </a:r>
            <a:endParaRPr lang="en-US" sz="1650" dirty="0"/>
          </a:p>
          <a:p>
            <a:pPr marL="203200" indent="-203200">
              <a:lnSpc>
                <a:spcPts val="2300"/>
              </a:lnSpc>
              <a:buSzPct val="100000"/>
              <a:buChar char="•"/>
            </a:pPr>
            <a:r>
              <a:rPr lang="en-US" sz="16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prompt does not handle numeric fluents, which partly explains the low citycar and tetris scores.</a:t>
            </a:r>
            <a:endParaRPr lang="en-US" sz="1650" dirty="0"/>
          </a:p>
        </p:txBody>
      </p:sp>
      <p:sp>
        <p:nvSpPr>
          <p:cNvPr id="4" name="Text 2"/>
          <p:cNvSpPr/>
          <p:nvPr/>
        </p:nvSpPr>
        <p:spPr>
          <a:xfrm>
            <a:off x="1109167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F27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908792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300"/>
              </a:lnSpc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findings most likely to generalise</a:t>
            </a:r>
            <a:endParaRPr lang="en-US" sz="1700" dirty="0"/>
          </a:p>
          <a:p>
            <a:pPr marL="203200" indent="-203200">
              <a:lnSpc>
                <a:spcPts val="2300"/>
              </a:lnSpc>
              <a:spcAft>
                <a:spcPts val="1100"/>
              </a:spcAft>
              <a:buSzPct val="100000"/>
              <a:buChar char="•"/>
            </a:pPr>
            <a:r>
              <a:rPr lang="en-US" sz="16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 post-training is a net negative for PDDL planning — the largest single effect in the study.</a:t>
            </a:r>
            <a:endParaRPr lang="en-US" sz="1700" dirty="0"/>
          </a:p>
          <a:p>
            <a:pPr marL="203200" indent="-203200">
              <a:lnSpc>
                <a:spcPts val="2300"/>
              </a:lnSpc>
              <a:spcAft>
                <a:spcPts val="1100"/>
              </a:spcAft>
              <a:buSzPct val="100000"/>
              <a:buChar char="•"/>
            </a:pPr>
            <a:r>
              <a:rPr lang="en-US" sz="16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Chain-of-thought helps mid-size models on harder structured problems but is just noise on simpler ones.</a:t>
            </a:r>
            <a:endParaRPr lang="en-US" sz="1700" dirty="0"/>
          </a:p>
          <a:p>
            <a:pPr marL="0" indent="0">
              <a:lnSpc>
                <a:spcPts val="2300"/>
              </a:lnSpc>
              <a:spcBef>
                <a:spcPts val="1200"/>
              </a:spcBef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rest of the picture</a:t>
            </a:r>
            <a:endParaRPr lang="en-US" sz="1700" dirty="0"/>
          </a:p>
          <a:p>
            <a:pPr marL="203200" indent="-203200">
              <a:lnSpc>
                <a:spcPts val="2300"/>
              </a:lnSpc>
              <a:spcAft>
                <a:spcPts val="1100"/>
              </a:spcAft>
              <a:buSzPct val="100000"/>
              <a:buChar char="•"/>
            </a:pPr>
            <a:r>
              <a:rPr lang="en-US" sz="16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remaining results rank the models and domains: simple domains are mostly solved, blocksworld partly, citycar and tetris out of reach.</a:t>
            </a:r>
            <a:endParaRPr lang="en-US" sz="1700" dirty="0"/>
          </a:p>
          <a:p>
            <a:pPr marL="203200" indent="-203200">
              <a:lnSpc>
                <a:spcPts val="2300"/>
              </a:lnSpc>
              <a:spcAft>
                <a:spcPts val="1100"/>
              </a:spcAft>
              <a:buSzPct val="100000"/>
              <a:buChar char="•"/>
            </a:pPr>
            <a:r>
              <a:rPr lang="en-US" sz="16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pipeline is reproducible — one notebook regenerates every figure and table from the raw CSVs.</a:t>
            </a:r>
            <a:endParaRPr lang="en-US" sz="1700" dirty="0"/>
          </a:p>
          <a:p>
            <a:pPr marL="0" indent="0">
              <a:lnSpc>
                <a:spcPts val="2300"/>
              </a:lnSpc>
              <a:spcBef>
                <a:spcPts val="1200"/>
              </a:spcBef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Potential next steps </a:t>
            </a:r>
            <a:endParaRPr lang="en-US" sz="1700" dirty="0"/>
          </a:p>
          <a:p>
            <a:pPr marL="203200" indent="-203200">
              <a:lnSpc>
                <a:spcPts val="2300"/>
              </a:lnSpc>
              <a:buSzPct val="100000"/>
              <a:buChar char="•"/>
            </a:pPr>
            <a:r>
              <a:rPr lang="en-US" sz="1650" dirty="0">
                <a:solidFill>
                  <a:srgbClr val="3A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FP8 or full-precision 70B run, a prompt that handles numeric fluents, and larger sample sizes for confidence intervals.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109167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1184</Words>
  <Application>Microsoft Office PowerPoint</Application>
  <PresentationFormat>Widescreen</PresentationFormat>
  <Paragraphs>112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Controlled Comparative Study of LLM Planning</dc:title>
  <dc:subject>PptxGenJS Presentation</dc:subject>
  <dc:creator>Satti, Fahim, Hassan, Mujtaba</dc:creator>
  <cp:lastModifiedBy>Hassan Mujtaba Ahmed - hassan.ahmed5@studio.unibo.it</cp:lastModifiedBy>
  <cp:revision>3</cp:revision>
  <dcterms:created xsi:type="dcterms:W3CDTF">2026-05-14T17:27:00Z</dcterms:created>
  <dcterms:modified xsi:type="dcterms:W3CDTF">2026-05-14T17:42:44Z</dcterms:modified>
</cp:coreProperties>
</file>